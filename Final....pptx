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96" r:id="rId2"/>
    <p:sldId id="339" r:id="rId3"/>
    <p:sldId id="419" r:id="rId4"/>
    <p:sldId id="456" r:id="rId5"/>
    <p:sldId id="453" r:id="rId6"/>
    <p:sldId id="434" r:id="rId7"/>
    <p:sldId id="420" r:id="rId8"/>
    <p:sldId id="459" r:id="rId9"/>
    <p:sldId id="457" r:id="rId10"/>
    <p:sldId id="454" r:id="rId11"/>
    <p:sldId id="458" r:id="rId12"/>
    <p:sldId id="448" r:id="rId13"/>
    <p:sldId id="450" r:id="rId14"/>
    <p:sldId id="446" r:id="rId15"/>
    <p:sldId id="449" r:id="rId16"/>
    <p:sldId id="455" r:id="rId17"/>
    <p:sldId id="34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I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AA3"/>
    <a:srgbClr val="0F6FC6"/>
    <a:srgbClr val="0000CC"/>
    <a:srgbClr val="009DD9"/>
    <a:srgbClr val="2F4B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188" autoAdjust="0"/>
  </p:normalViewPr>
  <p:slideViewPr>
    <p:cSldViewPr snapToGrid="0" showGuides="1">
      <p:cViewPr varScale="1">
        <p:scale>
          <a:sx n="57" d="100"/>
          <a:sy n="57" d="100"/>
        </p:scale>
        <p:origin x="82" y="43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8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93CE7-0ABB-4D5C-91F8-04ED64636C4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14AD9-3015-4A74-890B-D8A3E0EA2B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B5066-1B40-4451-88FA-D36B2DB9569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833F2-1FF2-46AD-9558-8A772E05FF0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05415D9-1936-41C9-A1E0-6C683B298A91}" type="datetime1">
              <a:rPr lang="de-AT" smtClean="0"/>
              <a:t>29.10.2025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4CDB-9339-4236-97FE-EF9ADE7C7746}" type="datetime1">
              <a:rPr lang="de-AT" smtClean="0"/>
              <a:t>29.10.2025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14F1-10FF-4036-8489-6A75C498D7F8}" type="datetime1">
              <a:rPr lang="de-AT" smtClean="0"/>
              <a:t>29.10.2025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1F9CD09-A87F-41BD-878B-62ADDBEDE207}" type="datetime1">
              <a:rPr lang="de-AT" smtClean="0"/>
              <a:t>29.10.2025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D9B8A75-8A93-42F7-83C2-E91CAA32AD2D}" type="datetime1">
              <a:rPr lang="de-AT" smtClean="0"/>
              <a:t>29.10.2025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8DDC-8E8A-40F2-B290-DE40DC5435A2}" type="datetime1">
              <a:rPr lang="de-AT" smtClean="0"/>
              <a:t>29.10.2025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FAC3-B007-45E7-838F-EB3347319F49}" type="datetime1">
              <a:rPr lang="de-AT" smtClean="0"/>
              <a:t>29.10.2025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CF27-D490-4116-BAF6-8B3D1382E7DE}" type="datetime1">
              <a:rPr lang="de-AT" smtClean="0"/>
              <a:t>29.10.2025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A1535E6D-1964-4096-8B13-4E6AE64D3296}" type="datetime1">
              <a:rPr lang="de-AT" smtClean="0"/>
              <a:t>29.10.2025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2B5D-3138-4DEE-89D7-9496AF4A15A2}" type="datetime1">
              <a:rPr lang="de-AT" smtClean="0"/>
              <a:t>29.10.2025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B360EDE9-3F39-4A22-851C-76D56593C099}" type="datetime1">
              <a:rPr lang="de-AT" smtClean="0"/>
              <a:t>29.10.2025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C776C6-E6A6-42FF-8A2F-70CA0241300E}" type="datetime1">
              <a:rPr lang="de-AT" smtClean="0"/>
              <a:t>29.10.2025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panose="05000000000000000000" pitchFamily="2" charset="2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10.03421" TargetMode="External"/><Relationship Id="rId5" Type="http://schemas.openxmlformats.org/officeDocument/2006/relationships/hyperlink" Target="https://pubmed.ncbi.nlm.nih.gov/40001897/" TargetMode="External"/><Relationship Id="rId4" Type="http://schemas.openxmlformats.org/officeDocument/2006/relationships/hyperlink" Target="https://link.springer.com/article/10.1007/s44196-025-00956-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jrd.biomedcentral.com/articles/10.1186/s13023-023-02785-4" TargetMode="External"/><Relationship Id="rId5" Type="http://schemas.openxmlformats.org/officeDocument/2006/relationships/hyperlink" Target="https://pubmed.ncbi.nlm.nih.gov/38567236/" TargetMode="External"/><Relationship Id="rId4" Type="http://schemas.openxmlformats.org/officeDocument/2006/relationships/hyperlink" Target="https://ijrpr.com/uploads/V6ISSUE4/IJRPR43701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10.03421" TargetMode="External"/><Relationship Id="rId5" Type="http://schemas.openxmlformats.org/officeDocument/2006/relationships/hyperlink" Target="https://pubmed.ncbi.nlm.nih.gov/40001897/" TargetMode="External"/><Relationship Id="rId4" Type="http://schemas.openxmlformats.org/officeDocument/2006/relationships/hyperlink" Target="https://link.springer.com/article/10.1007/s44196-025-00956-8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jrd.biomedcentral.com/articles/10.1186/s13023-023-02785-4" TargetMode="External"/><Relationship Id="rId5" Type="http://schemas.openxmlformats.org/officeDocument/2006/relationships/hyperlink" Target="https://pubmed.ncbi.nlm.nih.gov/38567236/" TargetMode="External"/><Relationship Id="rId4" Type="http://schemas.openxmlformats.org/officeDocument/2006/relationships/hyperlink" Target="https://ijrpr.com/uploads/V6ISSUE4/IJRPR43701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2651" y="6050037"/>
            <a:ext cx="8608423" cy="685800"/>
          </a:xfrm>
        </p:spPr>
        <p:txBody>
          <a:bodyPr>
            <a:normAutofit/>
          </a:bodyPr>
          <a:lstStyle/>
          <a:p>
            <a:pPr algn="ctr"/>
            <a:r>
              <a:rPr lang="de-AT" sz="1900" b="1" dirty="0"/>
              <a:t>Computing and Technology Department, IQRA University Islamabad – H9 Campus -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130" y="210157"/>
            <a:ext cx="11682944" cy="6146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Huntington's Disease Detection and Severity Grading using Federated Learning and Agentic AI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Umama Qayum (37499)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Mahnoor Riaz (37066)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Hifsa Shahid (37046)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Ma`am Madiha Jaffar.</a:t>
            </a:r>
          </a:p>
          <a:p>
            <a:pPr algn="ctr"/>
            <a:endParaRPr lang="en-US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" y="6121015"/>
            <a:ext cx="1946788" cy="5702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161555"/>
            <a:ext cx="108712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2</a:t>
            </a:fld>
            <a:endParaRPr lang="de-AT"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5406" y="1685128"/>
            <a:ext cx="8541464" cy="363219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PROPOSED METHODOLOGY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CONTRIBUTION &amp; FUTURE 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REFERENCES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373913">
            <a:off x="8442204" y="4678432"/>
            <a:ext cx="3691394" cy="1898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3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703" y="1805049"/>
            <a:ext cx="10784115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Huntington’s Disease (HD) is an inherited neurodegenerative disorder caused by CAG(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Cytosine–Adenine–Guanine) 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expansion in the HTT gene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Huntingtin gene)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leads to severe impairments in movement, behavior, and cognition due to progressive brain damage.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vital for timely intervention and slowing disease progression.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4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11200" y="2105502"/>
            <a:ext cx="1022465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(FL):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privacy-preserving technique that enables multiple institutions to collaboratively train a shared model without sharing their raw data.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intelligent system capable of autonomous decision-making, learning, and adapting to achieve specific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1200" y="526098"/>
            <a:ext cx="11149581" cy="99060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8800" b="1" dirty="0">
                <a:solidFill>
                  <a:schemeClr val="accent2"/>
                </a:solidFill>
              </a:rPr>
              <a:t/>
            </a:r>
            <a:br>
              <a:rPr lang="en-US" sz="8800" b="1" dirty="0">
                <a:solidFill>
                  <a:schemeClr val="accent2"/>
                </a:solidFill>
              </a:rPr>
            </a:b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5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6203" y="2105502"/>
            <a:ext cx="11099788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48705" y="2262881"/>
            <a:ext cx="104370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HD diagnosis relies on centralized systems that limit collaboration and compromise patient privacy.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unified, privacy-preserving framework combining Federated Learning and Agentic AI to integrate MRI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clinical data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accurate detection and severity classification.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6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7" y="1399862"/>
            <a:ext cx="11779973" cy="525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86496" y="3182727"/>
            <a:ext cx="6285016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privacy-preserving AI framework for early  Huntington’s Disease identification across hospitals using MRI and clinical data via Federated Learning.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CNN, Transformer, and Agentic AI systems to enhance image and symptom analysis, automate training, ensure data quality, and support collaboration.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52827" y="1847462"/>
            <a:ext cx="1163782" cy="439387"/>
          </a:xfrm>
          <a:prstGeom prst="rect">
            <a:avLst/>
          </a:prstGeom>
          <a:solidFill>
            <a:srgbClr val="1B6A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7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761302" y="232774"/>
            <a:ext cx="10302576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</p:txBody>
      </p:sp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1585259" y="2322252"/>
            <a:ext cx="8244541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/>
            <a:r>
              <a:rPr lang="en-US" sz="2000" b="1" dirty="0"/>
              <a:t/>
            </a:r>
            <a:br>
              <a:rPr lang="en-US" sz="2000" b="1" dirty="0"/>
            </a:b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RQ1: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are applying an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approach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Huntington’s Disease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severity?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RQ2: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are applying a hybrid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AI and Federated Learning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classification on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Huntington’s Disease?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8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049" y="987109"/>
            <a:ext cx="1946788" cy="5702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938805"/>
              </p:ext>
            </p:extLst>
          </p:nvPr>
        </p:nvGraphicFramePr>
        <p:xfrm>
          <a:off x="356260" y="1631189"/>
          <a:ext cx="11530940" cy="4904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8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7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856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en-US" sz="1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sz="1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Weakness</a:t>
                      </a:r>
                      <a:endParaRPr lang="en-US" sz="1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175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dirty="0">
                          <a:hlinkClick r:id="rId4"/>
                        </a:rPr>
                        <a:t>(Dash et al., 2025)</a:t>
                      </a:r>
                      <a:endParaRPr lang="en-US" sz="17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Random Forest,</a:t>
                      </a:r>
                      <a:r>
                        <a:rPr lang="en-US" sz="1700" kern="100" dirty="0" err="1">
                          <a:effectLst/>
                        </a:rPr>
                        <a:t>XGBoost,</a:t>
                      </a:r>
                      <a:r>
                        <a:rPr lang="en-US" sz="1700" kern="100" dirty="0">
                          <a:effectLst/>
                        </a:rPr>
                        <a:t>MLP,Gradient Boost,AdaBoost</a:t>
                      </a:r>
                    </a:p>
                    <a:p>
                      <a:pPr marL="285750" marR="0" indent="-28575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Federated Learning with Weighted Conglomeration Optimization (FLWCO)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Lacked privacy in centralized models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lvl="0" algn="ctr" rtl="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 Limited variety and real-world diversity</a:t>
                      </a:r>
                      <a:endParaRPr lang="en-US" sz="17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hlinkClick r:id="rId5"/>
                        </a:rPr>
                        <a:t>(Aqel et al., 2025)</a:t>
                      </a:r>
                      <a:endParaRPr lang="en-US" sz="17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Bibliometric R Package (v4.3.1), No ML Model</a:t>
                      </a:r>
                      <a:endParaRPr lang="en-US" sz="1700" i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No machine learning or federated learning testing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 Descriptive only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No experimental validation or data-driven analysis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22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1700" u="sng" kern="1200" dirty="0" err="1">
                          <a:effectLst/>
                          <a:hlinkClick r:id="rId6"/>
                        </a:rPr>
                        <a:t>Masscheleina</a:t>
                      </a:r>
                      <a:r>
                        <a:rPr kumimoji="0" lang="en-US" sz="1700" u="sng" kern="1200" dirty="0">
                          <a:effectLst/>
                          <a:hlinkClick r:id="rId6"/>
                        </a:rPr>
                        <a:t> et al., 2025</a:t>
                      </a:r>
                      <a:endParaRPr lang="en-US" sz="17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marR="0" indent="-28575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AgentBench-2 Framework (Planner–Executor Architecture)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Not applied to Huntington’s Disease or healthcare problems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Lacks biomedical or practical application relevance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9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950182"/>
            <a:ext cx="1946788" cy="5702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73848"/>
              </p:ext>
            </p:extLst>
          </p:nvPr>
        </p:nvGraphicFramePr>
        <p:xfrm>
          <a:off x="505195" y="1685128"/>
          <a:ext cx="11013870" cy="47317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622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en-US" sz="1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sz="1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Weakness</a:t>
                      </a:r>
                      <a:endParaRPr lang="en-US" sz="17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01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1700" u="sng" kern="1200" dirty="0">
                          <a:effectLst/>
                          <a:hlinkClick r:id="rId4"/>
                        </a:rPr>
                        <a:t>K. Sangeetha et al., IJRPR, 2025</a:t>
                      </a:r>
                      <a:r>
                        <a:rPr kumimoji="0" lang="en-US" sz="1700" kern="1200" dirty="0">
                          <a:effectLst/>
                        </a:rPr>
                        <a:t> </a:t>
                      </a:r>
                      <a:endParaRPr lang="en-US" sz="17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CNN (RPN + Transfer Learning)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Centralized, MRI-only approach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Lacks federated learning privacy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lvl="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Small dataset</a:t>
                      </a:r>
                      <a:endParaRPr lang="en-US" sz="17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hlinkClick r:id="rId5"/>
                        </a:rPr>
                        <a:t>(Sharma et al., 2024)</a:t>
                      </a:r>
                      <a:endParaRPr lang="en-US" sz="17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FH/CC Ratio</a:t>
                      </a:r>
                    </a:p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CC/IT Ratio</a:t>
                      </a:r>
                    </a:p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MRI Volumetric</a:t>
                      </a:r>
                    </a:p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DTI Quantitative Models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Single patient study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No AI or FL integration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Very limited scope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 Results cannot be generalized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91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u="sng" kern="100" dirty="0">
                          <a:effectLst/>
                          <a:hlinkClick r:id="rId6"/>
                        </a:rPr>
                        <a:t>J. Ouwerkerk et al., 2023</a:t>
                      </a:r>
                      <a:endParaRPr lang="en-US" sz="17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LGBM (Light Gradient Boosting Machine) Age at Onset (AAO) </a:t>
                      </a:r>
                    </a:p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</a:rPr>
                        <a:t>GRU (Gated Recurrent Unit)  Driving Capability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No federated learning or agentive AI adaptation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/>
                        <a:t>Strong dependency on a single dataset; limited external validation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10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437746"/>
              </p:ext>
            </p:extLst>
          </p:nvPr>
        </p:nvGraphicFramePr>
        <p:xfrm>
          <a:off x="676894" y="1745536"/>
          <a:ext cx="10463890" cy="35959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5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18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Year</a:t>
                      </a:r>
                      <a:endParaRPr lang="en-US" sz="2000" b="1" i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Algorithm</a:t>
                      </a:r>
                      <a:endParaRPr lang="en-US" sz="2000" b="1" i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Accuracy (%)</a:t>
                      </a:r>
                      <a:endParaRPr lang="en-US" sz="2000" b="1" i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References</a:t>
                      </a:r>
                      <a:endParaRPr lang="en-US" sz="2000" b="1" i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1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2025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Random Forest, </a:t>
                      </a:r>
                      <a:r>
                        <a:rPr lang="en-US" sz="2000" kern="100" dirty="0" err="1">
                          <a:effectLst/>
                        </a:rPr>
                        <a:t>XGBoost</a:t>
                      </a:r>
                      <a:r>
                        <a:rPr lang="en-US" sz="2000" kern="100" dirty="0">
                          <a:effectLst/>
                        </a:rPr>
                        <a:t>, MLP, Gradient Boost, AdaBoost,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97.27% (FLWCO)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hlinkClick r:id="rId4"/>
                        </a:rPr>
                        <a:t>(Dash et al., 2025)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9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2025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Bibliometric R Package (v4.3.1), No ML Model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Not Applicable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hlinkClick r:id="rId5"/>
                        </a:rPr>
                        <a:t>(Aqel et al., 2025)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73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2025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AgentBench-2 Framework (Planner–Executor Architecture)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Not Applicable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2000" u="sng" kern="1200" dirty="0" err="1">
                          <a:effectLst/>
                          <a:hlinkClick r:id="rId6"/>
                        </a:rPr>
                        <a:t>Masscheleina</a:t>
                      </a:r>
                      <a:r>
                        <a:rPr kumimoji="0" lang="en-US" sz="2000" u="sng" kern="1200" dirty="0">
                          <a:effectLst/>
                          <a:hlinkClick r:id="rId6"/>
                        </a:rPr>
                        <a:t> et al., 2025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11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331366"/>
              </p:ext>
            </p:extLst>
          </p:nvPr>
        </p:nvGraphicFramePr>
        <p:xfrm>
          <a:off x="997527" y="1758984"/>
          <a:ext cx="10143257" cy="43093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0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7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4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25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Year</a:t>
                      </a:r>
                      <a:endParaRPr lang="en-US" sz="2000" b="1" i="1" dirty="0">
                        <a:latin typeface="+mj-lt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Algorithm</a:t>
                      </a:r>
                      <a:endParaRPr lang="en-US" sz="2000" b="1" i="1" dirty="0">
                        <a:latin typeface="+mj-lt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Accuracy (%)</a:t>
                      </a:r>
                      <a:endParaRPr lang="en-US" sz="2000" b="1" i="1" dirty="0">
                        <a:latin typeface="+mj-lt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References</a:t>
                      </a:r>
                      <a:endParaRPr lang="en-US" sz="2000" b="1" i="1" dirty="0">
                        <a:latin typeface="+mj-lt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96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2025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CNN (RPN + Transfer Learning)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&gt;90% Classification Accuracy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2000" u="sng" kern="1200" dirty="0">
                          <a:effectLst/>
                          <a:hlinkClick r:id="rId4"/>
                        </a:rPr>
                        <a:t>K. Sangeetha et al., IJRPR, 2025</a:t>
                      </a:r>
                      <a:r>
                        <a:rPr kumimoji="0" lang="en-US" sz="2000" kern="1200" dirty="0">
                          <a:effectLst/>
                        </a:rPr>
                        <a:t> 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71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2024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FH/CC Ratio, CC/IT Ratio, MRI Volumetric, DTI Quantitative Models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Not Applicable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hlinkClick r:id="rId5"/>
                        </a:rPr>
                        <a:t>(Sharma et al., 2024)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36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2023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LGBM (Light Gradient Boosting Machine) – Age at Onset (AAO) GRU (Gated Recurrent Unit) – Driving Capability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R² = 0.60–0.63 (AAO); AUC = 0.929 (Driving)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u="sng" kern="100" dirty="0">
                          <a:effectLst/>
                          <a:hlinkClick r:id="rId6"/>
                        </a:rPr>
                        <a:t>J. Ouwerkerk et al., 2023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Dataset and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1060" y="2037715"/>
            <a:ext cx="11176000" cy="2830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Frameworks: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Platform: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Flower, TensorFlow Federated</a:t>
            </a:r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GitHub</a:t>
            </a:r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Dataset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7686" y="199228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13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5788" y="2105502"/>
            <a:ext cx="9204696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charset="0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CNN for MRI analysis and Transformer models for clinical data.</a:t>
            </a:r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models together without sharing raw data.</a:t>
            </a:r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intelligent agents to manage communication, training, and data quality.</a:t>
            </a:r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model accuracy, sensitivity, and severity classification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14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711200" y="233710"/>
            <a:ext cx="10302576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mbria" panose="02040503050406030204"/>
                <a:ea typeface="Cambria" panose="02040503050406030204"/>
              </a:rPr>
              <a:t>Contribution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1907599"/>
            <a:ext cx="11532447" cy="396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eaLnBrk="0" fontAlgn="base" hangingPunct="0">
              <a:spcAft>
                <a:spcPct val="0"/>
              </a:spcAft>
              <a:buFont typeface="Wingdings" panose="05000000000000000000" charset="0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Model: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CNN and Transformer architectures to accurately detect and grade Huntington’s Disease severity from MRI and clinical inputs.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nables a unified analysis of imaging and clinical features, enhancing diagnostic precision and supporting more reliable assessment of disease progression.</a:t>
            </a:r>
            <a:r>
              <a:rPr lang="en-US" sz="2800" dirty="0"/>
              <a:t/>
            </a:r>
            <a:br>
              <a:rPr lang="en-US" sz="2800" dirty="0"/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15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10" name="Title 3"/>
          <p:cNvSpPr txBox="1"/>
          <p:nvPr/>
        </p:nvSpPr>
        <p:spPr>
          <a:xfrm>
            <a:off x="600598" y="360167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latin typeface="Cambria" panose="02040503050406030204"/>
                <a:ea typeface="Cambria" panose="02040503050406030204"/>
              </a:rPr>
              <a:t>Future Work</a:t>
            </a:r>
            <a:endParaRPr lang="en-US" sz="4000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3754" y="2647114"/>
            <a:ext cx="1020449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systems could integrate </a:t>
            </a:r>
            <a:r>
              <a:rPr kumimoji="0" lang="en-US" altLang="en-US" sz="3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data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wearable sensors, or IoT-enabled health monitors to continuously assess symptoms and disease progression.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References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16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17563" y="3546634"/>
          <a:ext cx="10871200" cy="22936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8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1200" y="1772336"/>
            <a:ext cx="108712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1] S. Dash, S.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Padhy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P. Suman, S. Mal, L. Malviya, A. Suman and J. Kishore, "Privacy-Preserving Diabetes and Heart Disease Prediction via Federated Learning and WCO. International Journal of Computational Intelligence Systems," 2025.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Aqel, J. Ahmad, I. Saleh, A. Fathima, A. A. Al Thani, W. M. Y. Mohamed and A.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Shaito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"Advances in Huntington’s Disease Biomarkers: A 10-Year Bibliometric Analysis and a Comprehensive Review," 2025.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Masscheleina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Richerb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P. W.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Ayersa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"Optimizing and benchmarking the computation of the permanent of general matrices," 2025.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K. Sangeetha, 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Poorniammal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Suvitha and C. Nandhini, "Deep Learning Based Detection of Huntington’s Disease Using Convolutional Neural Networks," 2025.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Sharma, A. Aram, Y.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V. Pandian, "Huntington's Disease: A Report of an Interesting Case and Literature Review," 2024.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Ouwerkerk, 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Feleus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F. van der Zwaan, S. T. Y. Li,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M. C. Roon‑Mom, K. J. Wolstencroft and E. Mina, "Machine learning in Huntington’s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disease:exploring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Enroll‑HD dataset for prognosis and driving capability prediction," 2023.</a:t>
            </a:r>
          </a:p>
          <a:p>
            <a:endParaRPr lang="en-US" dirty="0"/>
          </a:p>
          <a:p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17</a:t>
            </a:fld>
            <a:endParaRPr lang="de-AT">
              <a:latin typeface="Calibri" panose="020F0502020204030204"/>
            </a:endParaRPr>
          </a:p>
        </p:txBody>
      </p:sp>
      <p:sp>
        <p:nvSpPr>
          <p:cNvPr id="6" name="Rectangle 1"/>
          <p:cNvSpPr/>
          <p:nvPr/>
        </p:nvSpPr>
        <p:spPr bwMode="auto">
          <a:xfrm>
            <a:off x="2658137" y="3169833"/>
            <a:ext cx="6052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6000" b="1" dirty="0">
                <a:latin typeface="Cambria" panose="02040503050406030204"/>
                <a:ea typeface="Calibri" panose="020F0502020204030204"/>
                <a:cs typeface="TimesNewRoman" charset="0"/>
              </a:rPr>
              <a:t>THANK YOU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1083</Words>
  <Application>Microsoft Office PowerPoint</Application>
  <PresentationFormat>Widescreen</PresentationFormat>
  <Paragraphs>170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Times New Roman</vt:lpstr>
      <vt:lpstr>TimesNewRoman</vt:lpstr>
      <vt:lpstr>Wingdings</vt:lpstr>
      <vt:lpstr>Wingdings 2</vt:lpstr>
      <vt:lpstr>Median</vt:lpstr>
      <vt:lpstr>PowerPoint Presentation</vt:lpstr>
      <vt:lpstr>Table of Content</vt:lpstr>
      <vt:lpstr> Introduction</vt:lpstr>
      <vt:lpstr> Introduction (Cont.)</vt:lpstr>
      <vt:lpstr>Problem Statement </vt:lpstr>
      <vt:lpstr>Objectives</vt:lpstr>
      <vt:lpstr> RQ1: How we are applying an AI-based approach on Huntington’s Disease for severity?  RQ2: How we are applying a hybrid framework for Agentic AI and Federated Learning of classification on Huntington’s Disease?</vt:lpstr>
      <vt:lpstr>Literature Review</vt:lpstr>
      <vt:lpstr>Literature Review (Cont.)</vt:lpstr>
      <vt:lpstr>Research Gap</vt:lpstr>
      <vt:lpstr>Research Gap (Cont.)</vt:lpstr>
      <vt:lpstr>Dataset and Tools</vt:lpstr>
      <vt:lpstr>Proposed Methodology</vt:lpstr>
      <vt:lpstr> Hybrid Model: Integrates CNN and Transformer architectures to accurately detect and grade Huntington’s Disease severity from MRI and clinical inputs.   Enables a unified analysis of imaging and clinical features, enhancing diagnostic precision and supporting more reliable assessment of disease progression.  </vt:lpstr>
      <vt:lpstr>Future systems could integrate real-time patient data from wearable sensors, or IoT-enabled health monitors to continuously assess symptoms and disease progression.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</dc:creator>
  <cp:lastModifiedBy>Kashmiri</cp:lastModifiedBy>
  <cp:revision>2796</cp:revision>
  <dcterms:created xsi:type="dcterms:W3CDTF">1900-01-01T00:00:00Z</dcterms:created>
  <dcterms:modified xsi:type="dcterms:W3CDTF">2025-10-29T09:51:19Z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F7BBEC4E150D4E3BA8BD8579CCCBF490_12</vt:lpwstr>
  </property>
  <property fmtid="{D5CDD505-2E9C-101B-9397-08002B2CF9AE}" pid="3" name="KSOProductBuildVer">
    <vt:lpwstr>1033-12.2.0.23131</vt:lpwstr>
  </property>
</Properties>
</file>